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62" r:id="rId9"/>
    <p:sldId id="278" r:id="rId10"/>
    <p:sldId id="274" r:id="rId11"/>
  </p:sldIdLst>
  <p:sldSz cx="9144000" cy="5143500" type="screen16x9"/>
  <p:notesSz cx="9144000" cy="51435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2" d="100"/>
          <a:sy n="102" d="100"/>
        </p:scale>
        <p:origin x="826" y="77"/>
      </p:cViewPr>
      <p:guideLst>
        <p:guide orient="horz" pos="1611"/>
        <p:guide pos="287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23781-2563-4610-883C-954CCB31EC7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80303-D8E8-44BA-9DED-39E6D0AFB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48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Slide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TextBox 1"/>
          <p:cNvSpPr txBox="1"/>
          <p:nvPr userDrawn="1"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" name="TextBox 2"/>
          <p:cNvSpPr txBox="1"/>
          <p:nvPr userDrawn="1"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2000"/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0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0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8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kfql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4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20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Custom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6_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9_Custom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Custom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16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7_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Custom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8_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Финал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6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конец списка.</a:t>
            </a:r>
            <a:endParaRPr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5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6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7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6_Custom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4"/>
          </p:nvPr>
        </p:nvSpPr>
        <p:spPr bwMode="auto"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9_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Custom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 bwMode="auto"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26" hasCustomPrompt="1"/>
          </p:nvPr>
        </p:nvSpPr>
        <p:spPr bwMode="auto"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7"/>
          </p:nvPr>
        </p:nvSpPr>
        <p:spPr bwMode="auto"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28"/>
          </p:nvPr>
        </p:nvSpPr>
        <p:spPr bwMode="auto"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7_Custom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733143" y="949329"/>
            <a:ext cx="2895600" cy="3895723"/>
          </a:xfr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6"/>
          </p:nvPr>
        </p:nvSpPr>
        <p:spPr bwMode="auto">
          <a:xfrm>
            <a:off x="3095170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8_Custom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Ключевая фраза слайда</a:t>
            </a:r>
            <a:endParaRPr/>
          </a:p>
        </p:txBody>
      </p:sp>
      <p:sp>
        <p:nvSpPr>
          <p:cNvPr id="7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3095170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21"/>
          </p:nvPr>
        </p:nvSpPr>
        <p:spPr bwMode="auto"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0_Custom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32" hasCustomPrompt="1"/>
          </p:nvPr>
        </p:nvSpPr>
        <p:spPr bwMode="auto"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33" hasCustomPrompt="1"/>
          </p:nvPr>
        </p:nvSpPr>
        <p:spPr bwMode="auto"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60351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3" name="Рисунок 2"/>
          <p:cNvSpPr>
            <a:spLocks noGrp="1"/>
          </p:cNvSpPr>
          <p:nvPr>
            <p:ph type="pic" sz="quarter" idx="37" hasCustomPrompt="1"/>
          </p:nvPr>
        </p:nvSpPr>
        <p:spPr bwMode="auto"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31" name="Рисунок 2"/>
          <p:cNvSpPr>
            <a:spLocks noGrp="1"/>
          </p:cNvSpPr>
          <p:nvPr>
            <p:ph type="pic" sz="quarter" idx="39" hasCustomPrompt="1"/>
          </p:nvPr>
        </p:nvSpPr>
        <p:spPr bwMode="auto"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" name="TextBox 4"/>
          <p:cNvSpPr txBox="1"/>
          <p:nvPr userDrawn="1"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dt="0"/>
  <p:txStyles>
    <p:titleStyle>
      <a:lvl1pPr algn="l" defTabSz="457200">
        <a:spcBef>
          <a:spcPts val="0"/>
        </a:spcBef>
        <a:buNone/>
        <a:defRPr sz="3600" b="1" i="0">
          <a:solidFill>
            <a:schemeClr val="tx1"/>
          </a:solidFill>
          <a:latin typeface="ALS Gorizont Bold Expanded"/>
          <a:ea typeface="+mj-ea"/>
          <a:cs typeface="+mj-cs"/>
        </a:defRPr>
      </a:lvl1pPr>
    </p:titleStyle>
    <p:bodyStyle>
      <a:lvl1pPr marL="0" indent="0" algn="l" defTabSz="457200">
        <a:spcBef>
          <a:spcPts val="0"/>
        </a:spcBef>
        <a:buSzPct val="100000"/>
        <a:buFont typeface="Arial"/>
        <a:buNone/>
        <a:defRPr sz="2000">
          <a:solidFill>
            <a:schemeClr val="tx1"/>
          </a:solidFill>
          <a:latin typeface="Golos Text"/>
          <a:ea typeface="+mn-ea"/>
          <a:cs typeface="Golos Text"/>
        </a:defRPr>
      </a:lvl1pPr>
      <a:lvl2pPr marL="742950" indent="-28575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Golos Text"/>
          <a:ea typeface="+mn-ea"/>
          <a:cs typeface="Golos Text"/>
        </a:defRPr>
      </a:lvl2pPr>
      <a:lvl3pPr marL="11430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3pPr>
      <a:lvl4pPr marL="16002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4pPr>
      <a:lvl5pPr marL="1828800" indent="0" algn="l" defTabSz="457200">
        <a:spcBef>
          <a:spcPts val="0"/>
        </a:spcBef>
        <a:buFont typeface="Arial"/>
        <a:buNone/>
        <a:defRPr sz="1600">
          <a:solidFill>
            <a:schemeClr val="tx1"/>
          </a:solidFill>
          <a:latin typeface="Golos Text"/>
          <a:ea typeface="+mn-ea"/>
          <a:cs typeface="Golos Text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 bwMode="auto">
          <a:xfrm>
            <a:off x="0" y="1939821"/>
            <a:ext cx="9144000" cy="1263857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3600" dirty="0">
                <a:solidFill>
                  <a:schemeClr val="bg1"/>
                </a:solidFill>
              </a:rPr>
              <a:t>Компания «</a:t>
            </a:r>
            <a:r>
              <a:rPr lang="en-US" sz="3600" dirty="0">
                <a:solidFill>
                  <a:schemeClr val="bg1"/>
                </a:solidFill>
              </a:rPr>
              <a:t>Sun bag</a:t>
            </a:r>
            <a:r>
              <a:rPr lang="ru-RU" sz="3600" dirty="0">
                <a:solidFill>
                  <a:schemeClr val="bg1"/>
                </a:solidFill>
              </a:rPr>
              <a:t>»</a:t>
            </a:r>
            <a:br>
              <a:rPr lang="ru-RU" sz="3600" dirty="0">
                <a:solidFill>
                  <a:schemeClr val="bg1"/>
                </a:solidFill>
              </a:rPr>
            </a:br>
            <a:r>
              <a:rPr lang="ru-RU" sz="3600" dirty="0">
                <a:solidFill>
                  <a:schemeClr val="bg1"/>
                </a:solidFill>
              </a:rPr>
              <a:t>Автоматизация процессов продажи сумок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4275360" y="4116493"/>
            <a:ext cx="48686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dirty="0">
                <a:solidFill>
                  <a:schemeClr val="bg1"/>
                </a:solidFill>
                <a:latin typeface="Golos Text"/>
                <a:cs typeface="Golos Text"/>
              </a:rPr>
              <a:t>Выполнил: Нгуен Хыу Жанг</a:t>
            </a:r>
          </a:p>
          <a:p>
            <a:pPr>
              <a:defRPr/>
            </a:pPr>
            <a:r>
              <a:rPr lang="ru-RU" dirty="0">
                <a:solidFill>
                  <a:schemeClr val="bg1"/>
                </a:solidFill>
                <a:latin typeface="Golos Text"/>
                <a:cs typeface="Golos Text"/>
              </a:rPr>
              <a:t>Поток: 1.3</a:t>
            </a:r>
            <a:endParaRPr lang="en-US" dirty="0">
              <a:solidFill>
                <a:schemeClr val="bg1"/>
              </a:solidFill>
              <a:latin typeface="Golos Text"/>
              <a:cs typeface="Golos Text"/>
            </a:endParaRPr>
          </a:p>
          <a:p>
            <a:pPr>
              <a:defRPr/>
            </a:pPr>
            <a:r>
              <a:rPr lang="ru-RU" dirty="0">
                <a:solidFill>
                  <a:schemeClr val="bg1"/>
                </a:solidFill>
                <a:latin typeface="Golos Text"/>
              </a:rPr>
              <a:t>Преподаватель: Говорова Марина Михайловна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I</a:t>
            </a:r>
            <a:r>
              <a:rPr lang="ru-RU" dirty="0"/>
              <a:t>. Предметная область:</a:t>
            </a:r>
            <a:endParaRPr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554635" y="1114506"/>
            <a:ext cx="6423285" cy="3285106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800" dirty="0"/>
              <a:t>1) </a:t>
            </a:r>
            <a:r>
              <a:rPr lang="ru-RU" sz="1800" dirty="0"/>
              <a:t>Компания «Sun bag»</a:t>
            </a:r>
            <a:r>
              <a:rPr lang="en-US" sz="1800" dirty="0"/>
              <a:t>:</a:t>
            </a:r>
            <a:endParaRPr lang="ru-RU" sz="1800" dirty="0"/>
          </a:p>
          <a:p>
            <a:pPr>
              <a:spcAft>
                <a:spcPts val="600"/>
              </a:spcAft>
              <a:defRPr/>
            </a:pPr>
            <a:r>
              <a:rPr lang="ru-RU" sz="1800" dirty="0"/>
              <a:t>• Продажа сумки</a:t>
            </a:r>
          </a:p>
          <a:p>
            <a:pPr>
              <a:spcAft>
                <a:spcPts val="600"/>
              </a:spcAft>
              <a:defRPr/>
            </a:pPr>
            <a:r>
              <a:rPr lang="ru-RU" sz="1800" dirty="0"/>
              <a:t>• Сотрудники: директор, закупщик, продавцы</a:t>
            </a:r>
          </a:p>
          <a:p>
            <a:pPr>
              <a:spcAft>
                <a:spcPts val="600"/>
              </a:spcAft>
              <a:defRPr/>
            </a:pPr>
            <a:r>
              <a:rPr lang="ru-RU" sz="1800" dirty="0"/>
              <a:t>• Несколько поставщиков</a:t>
            </a:r>
          </a:p>
          <a:p>
            <a:pPr>
              <a:spcAft>
                <a:spcPts val="600"/>
              </a:spcAft>
              <a:defRPr/>
            </a:pPr>
            <a:r>
              <a:rPr lang="ru-RU" sz="1800" dirty="0"/>
              <a:t>• Несколько магазинов</a:t>
            </a:r>
          </a:p>
          <a:p>
            <a:pPr>
              <a:spcAft>
                <a:spcPts val="600"/>
              </a:spcAft>
              <a:defRPr/>
            </a:pPr>
            <a:r>
              <a:rPr lang="en-US" sz="1800" dirty="0"/>
              <a:t>2) </a:t>
            </a:r>
            <a:r>
              <a:rPr lang="ru-RU" sz="1800" dirty="0"/>
              <a:t>Проблемы:</a:t>
            </a:r>
          </a:p>
          <a:p>
            <a:pPr>
              <a:spcAft>
                <a:spcPts val="600"/>
              </a:spcAft>
              <a:defRPr/>
            </a:pPr>
            <a:r>
              <a:rPr lang="ru-RU" sz="1800" dirty="0"/>
              <a:t>• Ручной учёт продаж</a:t>
            </a:r>
          </a:p>
          <a:p>
            <a:pPr>
              <a:spcAft>
                <a:spcPts val="600"/>
              </a:spcAft>
              <a:defRPr/>
            </a:pPr>
            <a:r>
              <a:rPr lang="ru-RU" sz="1800" dirty="0"/>
              <a:t>• Нет рейтинга поставщиков</a:t>
            </a:r>
          </a:p>
          <a:p>
            <a:pPr>
              <a:spcAft>
                <a:spcPts val="600"/>
              </a:spcAft>
              <a:defRPr/>
            </a:pPr>
            <a:r>
              <a:rPr lang="ru-RU" sz="1800" dirty="0"/>
              <a:t>• Нет анализа продаж</a:t>
            </a: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r>
              <a:rPr lang="en-US" dirty="0"/>
              <a:t>II</a:t>
            </a:r>
            <a:r>
              <a:rPr lang="ru-RU" dirty="0"/>
              <a:t>. Цель и задачи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569627" y="1044768"/>
            <a:ext cx="7330190" cy="37862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800" dirty="0"/>
              <a:t>Цель:</a:t>
            </a:r>
            <a:r>
              <a:rPr lang="en-US" sz="1800" dirty="0"/>
              <a:t> </a:t>
            </a:r>
            <a:r>
              <a:rPr lang="ru-RU" sz="1800" dirty="0"/>
              <a:t>Проектирование функциональной модели АИС «Sun bag»</a:t>
            </a:r>
          </a:p>
          <a:p>
            <a:pPr>
              <a:lnSpc>
                <a:spcPct val="150000"/>
              </a:lnSpc>
            </a:pPr>
            <a:r>
              <a:rPr lang="ru-RU" sz="1800" dirty="0"/>
              <a:t>Задачи:</a:t>
            </a:r>
          </a:p>
          <a:p>
            <a:pPr>
              <a:lnSpc>
                <a:spcPct val="150000"/>
              </a:lnSpc>
            </a:pPr>
            <a:r>
              <a:rPr lang="ru-RU" sz="1800" dirty="0"/>
              <a:t>1. Определить назначение ИС</a:t>
            </a:r>
          </a:p>
          <a:p>
            <a:pPr>
              <a:lnSpc>
                <a:spcPct val="150000"/>
              </a:lnSpc>
            </a:pPr>
            <a:r>
              <a:rPr lang="ru-RU" sz="1800" dirty="0"/>
              <a:t>2. Выделить процессы и внешние сущности</a:t>
            </a:r>
          </a:p>
          <a:p>
            <a:pPr>
              <a:lnSpc>
                <a:spcPct val="150000"/>
              </a:lnSpc>
            </a:pPr>
            <a:r>
              <a:rPr lang="ru-RU" sz="1800" dirty="0"/>
              <a:t>3. Построить контекстную диаграмму (A-0) и DFD (A0)</a:t>
            </a:r>
          </a:p>
          <a:p>
            <a:pPr>
              <a:lnSpc>
                <a:spcPct val="150000"/>
              </a:lnSpc>
            </a:pPr>
            <a:r>
              <a:rPr lang="ru-RU" sz="1800" dirty="0"/>
              <a:t>4. Составить матрицу событий</a:t>
            </a:r>
          </a:p>
          <a:p>
            <a:pPr>
              <a:lnSpc>
                <a:spcPct val="150000"/>
              </a:lnSpc>
            </a:pPr>
            <a:r>
              <a:rPr lang="ru-RU" sz="1800" dirty="0"/>
              <a:t>5. Сделать выводы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r>
              <a:rPr lang="en-US" dirty="0"/>
              <a:t>III. </a:t>
            </a:r>
            <a:r>
              <a:rPr lang="ru-RU" dirty="0"/>
              <a:t>Методы и средства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524656" y="1080291"/>
            <a:ext cx="6666614" cy="35109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800" dirty="0"/>
              <a:t>Методология:</a:t>
            </a:r>
          </a:p>
          <a:p>
            <a:pPr>
              <a:lnSpc>
                <a:spcPct val="150000"/>
              </a:lnSpc>
            </a:pPr>
            <a:r>
              <a:rPr lang="ru-RU" sz="1800" dirty="0"/>
              <a:t>• </a:t>
            </a:r>
            <a:r>
              <a:rPr lang="en-US" sz="1800" dirty="0"/>
              <a:t>DFD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• </a:t>
            </a:r>
            <a:r>
              <a:rPr lang="ru-RU" sz="1800" dirty="0"/>
              <a:t>Контекстные диаграммы</a:t>
            </a:r>
          </a:p>
          <a:p>
            <a:pPr>
              <a:lnSpc>
                <a:spcPct val="150000"/>
              </a:lnSpc>
            </a:pPr>
            <a:r>
              <a:rPr lang="ru-RU" sz="1800" dirty="0"/>
              <a:t>Средства:</a:t>
            </a:r>
          </a:p>
          <a:p>
            <a:pPr>
              <a:lnSpc>
                <a:spcPct val="150000"/>
              </a:lnSpc>
            </a:pPr>
            <a:r>
              <a:rPr lang="ru-RU" sz="1800" dirty="0"/>
              <a:t>• </a:t>
            </a:r>
            <a:r>
              <a:rPr lang="en-US" sz="1800" dirty="0"/>
              <a:t>CA ERwin Process Modeler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• MS PowerPoint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• ZOOM</a:t>
            </a:r>
            <a:endParaRPr lang="ru-RU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r>
              <a:rPr lang="en-US" dirty="0"/>
              <a:t>IV. </a:t>
            </a:r>
            <a:r>
              <a:rPr lang="ru-RU" dirty="0"/>
              <a:t>Назначение ИС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457200" y="1046882"/>
            <a:ext cx="6645349" cy="362255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sz="1800" dirty="0"/>
              <a:t>Назначение АИС «Sun bag»:</a:t>
            </a:r>
          </a:p>
          <a:p>
            <a:pPr>
              <a:lnSpc>
                <a:spcPct val="150000"/>
              </a:lnSpc>
            </a:pPr>
            <a:r>
              <a:rPr lang="ru-RU" sz="1800" dirty="0"/>
              <a:t>• Автоматизация учёта продаж</a:t>
            </a:r>
          </a:p>
          <a:p>
            <a:pPr>
              <a:lnSpc>
                <a:spcPct val="150000"/>
              </a:lnSpc>
            </a:pPr>
            <a:r>
              <a:rPr lang="ru-RU" sz="1800" dirty="0"/>
              <a:t>• Определение рейтинга поставщиков</a:t>
            </a:r>
          </a:p>
          <a:p>
            <a:pPr>
              <a:lnSpc>
                <a:spcPct val="150000"/>
              </a:lnSpc>
            </a:pPr>
            <a:r>
              <a:rPr lang="ru-RU" sz="1800" dirty="0"/>
              <a:t>• Выявление популярных моделей</a:t>
            </a:r>
          </a:p>
          <a:p>
            <a:pPr>
              <a:lnSpc>
                <a:spcPct val="150000"/>
              </a:lnSpc>
            </a:pPr>
            <a:r>
              <a:rPr lang="ru-RU" sz="1800" dirty="0"/>
              <a:t>• Распределение товара по магазинам</a:t>
            </a:r>
          </a:p>
          <a:p>
            <a:pPr>
              <a:lnSpc>
                <a:spcPct val="150000"/>
              </a:lnSpc>
            </a:pPr>
            <a:r>
              <a:rPr lang="ru-RU" sz="1800" dirty="0"/>
              <a:t>• Оценка работы продавцов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r>
              <a:rPr lang="en-US" dirty="0"/>
              <a:t>V. </a:t>
            </a:r>
            <a:r>
              <a:rPr lang="ru-RU" dirty="0"/>
              <a:t>Контекстная диаграмма </a:t>
            </a:r>
            <a:r>
              <a:rPr lang="en-US" dirty="0"/>
              <a:t>A-0: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584614" y="3678057"/>
            <a:ext cx="7180289" cy="89394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- </a:t>
            </a:r>
            <a:r>
              <a:rPr lang="ru-RU" sz="1800" dirty="0"/>
              <a:t>Внешние сущности:</a:t>
            </a:r>
            <a:r>
              <a:rPr lang="en-US" sz="1800" dirty="0"/>
              <a:t> </a:t>
            </a:r>
            <a:r>
              <a:rPr lang="ru-RU" sz="1800" dirty="0"/>
              <a:t>Директор</a:t>
            </a:r>
            <a:r>
              <a:rPr lang="en-US" sz="1800" dirty="0"/>
              <a:t>, </a:t>
            </a:r>
            <a:r>
              <a:rPr lang="ru-RU" sz="1800" dirty="0"/>
              <a:t>Закупщик</a:t>
            </a:r>
            <a:r>
              <a:rPr lang="en-US" sz="1800" dirty="0"/>
              <a:t>, </a:t>
            </a:r>
            <a:r>
              <a:rPr lang="ru-RU" sz="1800" dirty="0"/>
              <a:t>Продавцы, Поставщики.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- </a:t>
            </a:r>
            <a:r>
              <a:rPr lang="ru-RU" sz="1800" dirty="0"/>
              <a:t>Основной процесс:</a:t>
            </a:r>
            <a:r>
              <a:rPr lang="en-US" sz="1800" dirty="0"/>
              <a:t> </a:t>
            </a:r>
            <a:r>
              <a:rPr lang="ru-RU" sz="1800" dirty="0"/>
              <a:t>Система «Sun bag»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0AAD90-14B4-BFC6-3947-650BFE7A6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884" y="1200880"/>
            <a:ext cx="4989200" cy="24771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707D9AA-580E-91F2-CBD9-C17D55049F8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8EC5D7-D90D-E153-B349-C13152A5B81C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r>
              <a:rPr lang="en-US" dirty="0"/>
              <a:t>VI. DFD </a:t>
            </a:r>
            <a:r>
              <a:rPr lang="ru-RU" dirty="0"/>
              <a:t>уровня </a:t>
            </a:r>
            <a:r>
              <a:rPr lang="en-US" dirty="0"/>
              <a:t>A0:</a:t>
            </a:r>
            <a:endParaRPr lang="ru-R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1EAD7F-412F-5651-1430-6993F449A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2" y="1021965"/>
            <a:ext cx="3028012" cy="390736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sz="1600" dirty="0"/>
              <a:t>Процессы:</a:t>
            </a:r>
          </a:p>
          <a:p>
            <a:pPr>
              <a:lnSpc>
                <a:spcPct val="150000"/>
              </a:lnSpc>
            </a:pPr>
            <a:r>
              <a:rPr lang="ru-RU" sz="1600" dirty="0"/>
              <a:t>1. Управление закупками</a:t>
            </a:r>
          </a:p>
          <a:p>
            <a:pPr>
              <a:lnSpc>
                <a:spcPct val="150000"/>
              </a:lnSpc>
            </a:pPr>
            <a:r>
              <a:rPr lang="ru-RU" sz="1600" dirty="0"/>
              <a:t>2. Управление продажами</a:t>
            </a:r>
          </a:p>
          <a:p>
            <a:pPr>
              <a:lnSpc>
                <a:spcPct val="150000"/>
              </a:lnSpc>
            </a:pPr>
            <a:r>
              <a:rPr lang="ru-RU" sz="1600" dirty="0"/>
              <a:t>3. Распределение товаров</a:t>
            </a:r>
          </a:p>
          <a:p>
            <a:pPr>
              <a:lnSpc>
                <a:spcPct val="150000"/>
              </a:lnSpc>
            </a:pPr>
            <a:r>
              <a:rPr lang="ru-RU" sz="1600" dirty="0"/>
              <a:t>4. Формирование отчётов</a:t>
            </a:r>
          </a:p>
          <a:p>
            <a:pPr>
              <a:lnSpc>
                <a:spcPct val="150000"/>
              </a:lnSpc>
            </a:pPr>
            <a:r>
              <a:rPr lang="ru-RU" sz="1600" dirty="0"/>
              <a:t>Накопители:</a:t>
            </a:r>
          </a:p>
          <a:p>
            <a:pPr>
              <a:lnSpc>
                <a:spcPct val="150000"/>
              </a:lnSpc>
            </a:pPr>
            <a:r>
              <a:rPr lang="ru-RU" sz="1600" dirty="0"/>
              <a:t>D1 Товары</a:t>
            </a:r>
            <a:r>
              <a:rPr lang="en-US" sz="1600" dirty="0"/>
              <a:t>;</a:t>
            </a:r>
            <a:r>
              <a:rPr lang="ru-RU" sz="1600" dirty="0"/>
              <a:t> D2 Поставщики</a:t>
            </a:r>
            <a:r>
              <a:rPr lang="en-US" sz="1600" dirty="0"/>
              <a:t>;</a:t>
            </a:r>
            <a:r>
              <a:rPr lang="ru-RU" sz="1600" dirty="0"/>
              <a:t> 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ru-RU" sz="1600" dirty="0"/>
              <a:t>D3 Продажи</a:t>
            </a:r>
            <a:r>
              <a:rPr lang="en-US" sz="1600" dirty="0"/>
              <a:t>; </a:t>
            </a:r>
            <a:r>
              <a:rPr lang="ru-RU" sz="1600" dirty="0"/>
              <a:t>D4 Сотрудники</a:t>
            </a:r>
            <a:r>
              <a:rPr lang="en-US" sz="1600" dirty="0"/>
              <a:t>;  </a:t>
            </a:r>
          </a:p>
          <a:p>
            <a:pPr>
              <a:lnSpc>
                <a:spcPct val="150000"/>
              </a:lnSpc>
            </a:pPr>
            <a:r>
              <a:rPr lang="ru-RU" sz="1600" dirty="0"/>
              <a:t>D5 Магазины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D873C7-B4F6-3EF5-58D0-61D4C3EAA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24" y="1555147"/>
            <a:ext cx="5364169" cy="276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569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53884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 fontScale="90000"/>
          </a:bodyPr>
          <a:lstStyle>
            <a:lvl1pPr>
              <a:defRPr sz="3200">
                <a:latin typeface="Golos Text DemiBold"/>
              </a:defRPr>
            </a:lvl1pPr>
          </a:lstStyle>
          <a:p>
            <a:r>
              <a:rPr lang="en-US" dirty="0"/>
              <a:t>VII. </a:t>
            </a:r>
            <a:r>
              <a:rPr lang="ru-RU" dirty="0"/>
              <a:t>Матрица событий</a:t>
            </a:r>
            <a:r>
              <a:rPr lang="en-US" dirty="0"/>
              <a:t>:</a:t>
            </a:r>
            <a:endParaRPr lang="ru-RU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89897BB-910D-1369-5FDE-FA6DF91F912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45179489"/>
              </p:ext>
            </p:extLst>
          </p:nvPr>
        </p:nvGraphicFramePr>
        <p:xfrm>
          <a:off x="622093" y="1191718"/>
          <a:ext cx="7232755" cy="3327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630">
                  <a:extLst>
                    <a:ext uri="{9D8B030D-6E8A-4147-A177-3AD203B41FA5}">
                      <a16:colId xmlns:a16="http://schemas.microsoft.com/office/drawing/2014/main" val="2467347702"/>
                    </a:ext>
                  </a:extLst>
                </a:gridCol>
                <a:gridCol w="1835837">
                  <a:extLst>
                    <a:ext uri="{9D8B030D-6E8A-4147-A177-3AD203B41FA5}">
                      <a16:colId xmlns:a16="http://schemas.microsoft.com/office/drawing/2014/main" val="2433896518"/>
                    </a:ext>
                  </a:extLst>
                </a:gridCol>
                <a:gridCol w="2853288">
                  <a:extLst>
                    <a:ext uri="{9D8B030D-6E8A-4147-A177-3AD203B41FA5}">
                      <a16:colId xmlns:a16="http://schemas.microsoft.com/office/drawing/2014/main" val="3272035273"/>
                    </a:ext>
                  </a:extLst>
                </a:gridCol>
              </a:tblGrid>
              <a:tr h="561040">
                <a:tc>
                  <a:txBody>
                    <a:bodyPr/>
                    <a:lstStyle/>
                    <a:p>
                      <a:r>
                        <a:rPr lang="ru-RU" dirty="0"/>
                        <a:t>Событие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Сущность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Поток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79254"/>
                  </a:ext>
                </a:extLst>
              </a:tr>
              <a:tr h="553355">
                <a:tc>
                  <a:txBody>
                    <a:bodyPr/>
                    <a:lstStyle/>
                    <a:p>
                      <a:r>
                        <a:rPr lang="ru-RU" dirty="0"/>
                        <a:t>Анализ спроса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Директор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Данные о продажах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806678"/>
                  </a:ext>
                </a:extLst>
              </a:tr>
              <a:tr h="553355">
                <a:tc>
                  <a:txBody>
                    <a:bodyPr/>
                    <a:lstStyle/>
                    <a:p>
                      <a:r>
                        <a:rPr lang="ru-RU" dirty="0"/>
                        <a:t>Оформление заказа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Закупщик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Заказ на поставку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675453"/>
                  </a:ext>
                </a:extLst>
              </a:tr>
              <a:tr h="553355">
                <a:tc>
                  <a:txBody>
                    <a:bodyPr/>
                    <a:lstStyle/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Учёт продаж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Продавцы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Информация о продажах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545211"/>
                  </a:ext>
                </a:extLst>
              </a:tr>
              <a:tr h="553355">
                <a:tc>
                  <a:txBody>
                    <a:bodyPr/>
                    <a:lstStyle/>
                    <a:p>
                      <a:r>
                        <a:rPr lang="ru-RU" dirty="0"/>
                        <a:t>Формирование отчётов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Директор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Запрос на отчёт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656154"/>
                  </a:ext>
                </a:extLst>
              </a:tr>
              <a:tr h="553355">
                <a:tc>
                  <a:txBody>
                    <a:bodyPr/>
                    <a:lstStyle/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Распределение товара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Директор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Решение о распределении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3586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7841C58-4838-91A6-77C9-73E4857A323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538843" name="Title 1">
            <a:extLst>
              <a:ext uri="{FF2B5EF4-FFF2-40B4-BE49-F238E27FC236}">
                <a16:creationId xmlns:a16="http://schemas.microsoft.com/office/drawing/2014/main" id="{F9E2D1C1-A441-0A8F-5C22-4BABC0C6C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 fontScale="90000"/>
          </a:bodyPr>
          <a:lstStyle>
            <a:lvl1pPr>
              <a:defRPr sz="3200">
                <a:latin typeface="Golos Text DemiBold"/>
              </a:defRPr>
            </a:lvl1pPr>
          </a:lstStyle>
          <a:p>
            <a:r>
              <a:rPr lang="en-US" dirty="0"/>
              <a:t>VIII. </a:t>
            </a:r>
            <a:r>
              <a:rPr lang="ru-RU" dirty="0"/>
              <a:t>Выводы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96973886" name="Content Placeholder 2">
            <a:extLst>
              <a:ext uri="{FF2B5EF4-FFF2-40B4-BE49-F238E27FC236}">
                <a16:creationId xmlns:a16="http://schemas.microsoft.com/office/drawing/2014/main" id="{0138A8AC-9BE1-1A25-CF17-BB2C53F64FF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auto">
          <a:xfrm>
            <a:off x="457201" y="1020556"/>
            <a:ext cx="5589180" cy="3221659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lnSpc>
                <a:spcPct val="150000"/>
              </a:lnSpc>
            </a:pPr>
            <a:r>
              <a:rPr lang="ru-RU" sz="1800" dirty="0"/>
              <a:t>• Построена функциональная модель АИС «Sun bag»</a:t>
            </a:r>
          </a:p>
          <a:p>
            <a:pPr>
              <a:lnSpc>
                <a:spcPct val="150000"/>
              </a:lnSpc>
            </a:pPr>
            <a:r>
              <a:rPr lang="ru-RU" sz="1800" dirty="0"/>
              <a:t>• Определены 4 основных процесса</a:t>
            </a:r>
          </a:p>
          <a:p>
            <a:pPr>
              <a:lnSpc>
                <a:spcPct val="150000"/>
              </a:lnSpc>
            </a:pPr>
            <a:r>
              <a:rPr lang="ru-RU" sz="1800" dirty="0"/>
              <a:t>• Выявлены 5 накопителей данных</a:t>
            </a:r>
          </a:p>
          <a:p>
            <a:pPr>
              <a:lnSpc>
                <a:spcPct val="150000"/>
              </a:lnSpc>
            </a:pPr>
            <a:r>
              <a:rPr lang="ru-RU" sz="1800" dirty="0"/>
              <a:t>• Составлена матрица событий</a:t>
            </a:r>
          </a:p>
          <a:p>
            <a:pPr>
              <a:lnSpc>
                <a:spcPct val="150000"/>
              </a:lnSpc>
            </a:pPr>
            <a:r>
              <a:rPr lang="ru-RU" sz="1800" dirty="0"/>
              <a:t>• Модель готова к дальнейшей детализации</a:t>
            </a:r>
            <a:br>
              <a:rPr lang="ru-RU" sz="1800" dirty="0"/>
            </a:b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533754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1685</TotalTime>
  <Words>322</Words>
  <Application>Microsoft Office PowerPoint</Application>
  <DocSecurity>0</DocSecurity>
  <PresentationFormat>On-screen Show (16:9)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ALS Gorizont Bold Expanded</vt:lpstr>
      <vt:lpstr>Arial</vt:lpstr>
      <vt:lpstr>Calibri</vt:lpstr>
      <vt:lpstr>Golos Text</vt:lpstr>
      <vt:lpstr>Golos Text DemiBold</vt:lpstr>
      <vt:lpstr>Тема1</vt:lpstr>
      <vt:lpstr>Компания «Sun bag» Автоматизация процессов продажи сумок</vt:lpstr>
      <vt:lpstr>I. Предметная область:</vt:lpstr>
      <vt:lpstr>II. Цель и задачи:</vt:lpstr>
      <vt:lpstr>III. Методы и средства:</vt:lpstr>
      <vt:lpstr>IV. Назначение ИС:</vt:lpstr>
      <vt:lpstr>V. Контекстная диаграмма A-0:</vt:lpstr>
      <vt:lpstr>VI. DFD уровня A0:</vt:lpstr>
      <vt:lpstr>VII. Матрица событий:</vt:lpstr>
      <vt:lpstr>VIII. Выводы:</vt:lpstr>
      <vt:lpstr>Спасибо за внимание!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</dc:creator>
  <cp:keywords/>
  <dc:description/>
  <cp:lastModifiedBy>Giang Nguyen</cp:lastModifiedBy>
  <cp:revision>195</cp:revision>
  <dcterms:created xsi:type="dcterms:W3CDTF">2014-06-27T12:30:22Z</dcterms:created>
  <dcterms:modified xsi:type="dcterms:W3CDTF">2026-10-13T16:32:18Z</dcterms:modified>
  <cp:category/>
  <dc:identifier/>
  <cp:contentStatus/>
  <dc:language/>
  <cp:version/>
</cp:coreProperties>
</file>